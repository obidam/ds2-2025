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T Mono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1FBA33-3D5F-4A73-ADD4-572AB0832A4B}">
  <a:tblStyle styleId="{251FBA33-3D5F-4A73-ADD4-572AB0832A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BC1033D-D9F8-4A3A-8AF6-8E06D3B10AE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T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792e07a4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792e07a4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792e07a4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792e07a4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792e07a4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792e07a4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792e07a4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792e07a4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792e07a4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792e07a4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92e07a4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792e07a4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792e07a4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792e07a4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f4846209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af4846209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f4846209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f4846209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792e07a4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792e07a4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792e07a4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792e07a4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1pPr>
            <a:lvl2pPr lvl="1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2pPr>
            <a:lvl3pPr lvl="2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3pPr>
            <a:lvl4pPr lvl="3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4pPr>
            <a:lvl5pPr lvl="4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5pPr>
            <a:lvl6pPr lvl="5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6pPr>
            <a:lvl7pPr lvl="6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7pPr>
            <a:lvl8pPr lvl="7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8pPr>
            <a:lvl9pPr lvl="8">
              <a:buNone/>
              <a:defRPr b="1">
                <a:solidFill>
                  <a:srgbClr val="EFEFEF"/>
                </a:solidFill>
                <a:latin typeface="PT Mono"/>
                <a:ea typeface="PT Mono"/>
                <a:cs typeface="PT Mono"/>
                <a:sym typeface="PT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2.xml"/><Relationship Id="rId4" Type="http://schemas.openxmlformats.org/officeDocument/2006/relationships/image" Target="../media/image15.png"/><Relationship Id="rId5" Type="http://schemas.openxmlformats.org/officeDocument/2006/relationships/slide" Target="/ppt/slides/slide1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slide" Target="/ppt/slides/slide12.xml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Relationship Id="rId4" Type="http://schemas.openxmlformats.org/officeDocument/2006/relationships/slide" Target="/ppt/slides/slide12.xml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cos.wmo.int/site/global-climate-observing-system-gcos/essential-climate-variables/sea-ice" TargetMode="External"/><Relationship Id="rId4" Type="http://schemas.openxmlformats.org/officeDocument/2006/relationships/hyperlink" Target="https://gcos.wmo.int/site/global-climate-observing-system-gcos/essential-climate-variables/sea-ice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wcrp-cmip.org/cmip-model-and-experiment-documentation/" TargetMode="External"/><Relationship Id="rId6" Type="http://schemas.openxmlformats.org/officeDocument/2006/relationships/hyperlink" Target="https://wcrp-cmip.org/cmip-model-and-experiment-documentation/" TargetMode="External"/><Relationship Id="rId7" Type="http://schemas.openxmlformats.org/officeDocument/2006/relationships/hyperlink" Target="https://library.wmo.int/viewer/31442/download?file=574-2024-edition_en.pdf&amp;type=pdf&amp;navigator=1" TargetMode="External"/><Relationship Id="rId8" Type="http://schemas.openxmlformats.org/officeDocument/2006/relationships/hyperlink" Target="https://library.wmo.int/viewer/31442/download?file=574-2024-edition_en.pdf&amp;type=pdf&amp;navigator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43925" y="706200"/>
            <a:ext cx="8388300" cy="16797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87900" y="793050"/>
            <a:ext cx="8520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Project 7: </a:t>
            </a:r>
            <a:r>
              <a:rPr b="1" lang="fr" sz="4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Future arctic sea ice change</a:t>
            </a:r>
            <a:endParaRPr b="1" sz="4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732725" y="2627325"/>
            <a:ext cx="5810700" cy="9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22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Ewen Cottour, Edgard Dabier, </a:t>
            </a:r>
            <a:r>
              <a:rPr lang="fr" sz="22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Julie Descloitres, Adam Lagssaibi</a:t>
            </a:r>
            <a:endParaRPr sz="22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 amt="51000"/>
          </a:blip>
          <a:srcRect b="50114" l="17035" r="17668" t="0"/>
          <a:stretch/>
        </p:blipFill>
        <p:spPr>
          <a:xfrm>
            <a:off x="0" y="3652025"/>
            <a:ext cx="3159727" cy="149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 amt="51000"/>
          </a:blip>
          <a:srcRect b="0" l="17035" r="17668" t="50114"/>
          <a:stretch/>
        </p:blipFill>
        <p:spPr>
          <a:xfrm rot="10800000">
            <a:off x="3068336" y="3688825"/>
            <a:ext cx="3159727" cy="149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 amt="51000"/>
          </a:blip>
          <a:srcRect b="0" l="17034" r="50011" t="0"/>
          <a:stretch/>
        </p:blipFill>
        <p:spPr>
          <a:xfrm rot="5400000">
            <a:off x="6766775" y="2851225"/>
            <a:ext cx="1594726" cy="2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443925" y="1496900"/>
            <a:ext cx="3542700" cy="823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377775" y="1507400"/>
            <a:ext cx="36750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Summary</a:t>
            </a:r>
            <a:endParaRPr b="1" sz="4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 amt="51000"/>
          </a:blip>
          <a:srcRect b="50114" l="17035" r="17668" t="0"/>
          <a:stretch/>
        </p:blipFill>
        <p:spPr>
          <a:xfrm>
            <a:off x="0" y="3652025"/>
            <a:ext cx="3159727" cy="14914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5322225" y="674100"/>
            <a:ext cx="34074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Context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Our data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Objective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Methods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Results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7544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T Mono"/>
              <a:buAutoNum type="romanUcPeriod"/>
            </a:pPr>
            <a:r>
              <a:rPr b="1" lang="fr" sz="2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Perspectives</a:t>
            </a:r>
            <a:endParaRPr b="1" sz="2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291525" y="420575"/>
            <a:ext cx="22896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type="ctrTitle"/>
          </p:nvPr>
        </p:nvSpPr>
        <p:spPr>
          <a:xfrm>
            <a:off x="225375" y="431075"/>
            <a:ext cx="243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Context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291525" y="1407450"/>
            <a:ext cx="8347800" cy="116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Why monitor sea ice ?</a:t>
            </a:r>
            <a:endParaRPr sz="1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Essential climate variable</a:t>
            </a:r>
            <a:r>
              <a:rPr b="1"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: warming, albedo, currents </a:t>
            </a:r>
            <a:r>
              <a:rPr lang="fr" sz="1700">
                <a:solidFill>
                  <a:srgbClr val="4A86E8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endParaRPr sz="1700">
              <a:solidFill>
                <a:srgbClr val="4A86E8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4">
            <a:alphaModFix amt="51000"/>
          </a:blip>
          <a:srcRect b="0" l="17035" r="17668" t="65257"/>
          <a:stretch/>
        </p:blipFill>
        <p:spPr>
          <a:xfrm rot="10800000">
            <a:off x="3068324" y="4114297"/>
            <a:ext cx="3159751" cy="103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291525" y="2629475"/>
            <a:ext cx="8623800" cy="17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Global activity : </a:t>
            </a:r>
            <a:r>
              <a:rPr b="1" lang="fr" sz="16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CMIP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fr" sz="22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→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Better understanding of past, present and future climate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1 </a:t>
            </a:r>
            <a:r>
              <a:rPr b="1" lang="fr" sz="16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m</a:t>
            </a:r>
            <a:r>
              <a:rPr b="1" lang="fr" sz="16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odel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: 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CMCC-ESM2 </a:t>
            </a:r>
            <a:r>
              <a:rPr lang="fr" sz="22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→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Atmospheric, oceanic, land interactions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4 </a:t>
            </a:r>
            <a:r>
              <a:rPr b="1" lang="fr" sz="16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scenarios</a:t>
            </a: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: 1pctCO2, historical, abrupt-4xCO2 &amp; piControl</a:t>
            </a:r>
            <a:r>
              <a:rPr lang="fr" sz="1600">
                <a:solidFill>
                  <a:schemeClr val="accent1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lang="fr" sz="1600">
                <a:solidFill>
                  <a:schemeClr val="accent1"/>
                </a:solidFill>
                <a:latin typeface="PT Mono"/>
                <a:ea typeface="PT Mono"/>
                <a:cs typeface="PT Mono"/>
                <a:sym typeface="PT Mono"/>
              </a:rPr>
              <a:t>2]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291525" y="420575"/>
            <a:ext cx="24321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type="ctrTitle"/>
          </p:nvPr>
        </p:nvSpPr>
        <p:spPr>
          <a:xfrm>
            <a:off x="291525" y="425825"/>
            <a:ext cx="24321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Our Data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 amt="51000"/>
          </a:blip>
          <a:srcRect b="0" l="17032" r="60631" t="0"/>
          <a:stretch/>
        </p:blipFill>
        <p:spPr>
          <a:xfrm rot="5400000">
            <a:off x="7108663" y="3108166"/>
            <a:ext cx="1080849" cy="2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88" name="Google Shape;88;p16"/>
          <p:cNvGraphicFramePr/>
          <p:nvPr/>
        </p:nvGraphicFramePr>
        <p:xfrm>
          <a:off x="342900" y="317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{251FBA33-3D5F-4A73-ADD4-572AB0832A4B}</a:tableStyleId>
              </a:tblPr>
              <a:tblGrid>
                <a:gridCol w="1182150"/>
                <a:gridCol w="874275"/>
                <a:gridCol w="890175"/>
                <a:gridCol w="902425"/>
                <a:gridCol w="889775"/>
                <a:gridCol w="831700"/>
                <a:gridCol w="482800"/>
                <a:gridCol w="842825"/>
              </a:tblGrid>
              <a:tr h="54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(lon, lat)</a:t>
                      </a:r>
                      <a:endParaRPr sz="12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winter, year 1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spring, year 1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summer, year 1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autumn, year 1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winter, year 2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…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autumn, year Ny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Pixel 1</a:t>
                      </a:r>
                      <a:endParaRPr sz="12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49.857426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85.757378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1.356595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91.907387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12.012276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20.202364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…</a:t>
                      </a:r>
                      <a:endParaRPr sz="12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Pixel Np</a:t>
                      </a:r>
                      <a:endParaRPr sz="12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20.202364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0.000313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72.987999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63.450939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99.638741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10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25.049150 </a:t>
                      </a:r>
                      <a:endParaRPr sz="10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209550" y="1406925"/>
            <a:ext cx="8724900" cy="136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E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xtraction of </a:t>
            </a:r>
            <a:r>
              <a:rPr b="1" lang="fr" sz="17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surface coverage of ice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(</a:t>
            </a:r>
            <a:r>
              <a:rPr i="1"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sea ice concentration in % - or siconc in the dataset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)</a:t>
            </a:r>
            <a:endParaRPr sz="1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from one </a:t>
            </a:r>
            <a:r>
              <a:rPr b="1" lang="fr" sz="17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model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and for each </a:t>
            </a:r>
            <a:r>
              <a:rPr b="1" lang="fr" sz="17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scenario</a:t>
            </a:r>
            <a:endParaRPr sz="15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formating dataset -&gt; one line per </a:t>
            </a:r>
            <a:r>
              <a:rPr b="1" lang="fr" sz="17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location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every season of every year is a feature</a:t>
            </a:r>
            <a:endParaRPr sz="17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291525" y="420575"/>
            <a:ext cx="27852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ctrTitle"/>
          </p:nvPr>
        </p:nvSpPr>
        <p:spPr>
          <a:xfrm>
            <a:off x="253425" y="425825"/>
            <a:ext cx="2861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Objective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238125" y="1331250"/>
            <a:ext cx="8382000" cy="54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Withdraw from </a:t>
            </a:r>
            <a:r>
              <a:rPr lang="fr" sz="1800">
                <a:solidFill>
                  <a:srgbClr val="EA9999"/>
                </a:solidFill>
                <a:latin typeface="PT Mono"/>
                <a:ea typeface="PT Mono"/>
                <a:cs typeface="PT Mono"/>
                <a:sym typeface="PT Mono"/>
              </a:rPr>
              <a:t>arbitrary</a:t>
            </a: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cartography of the arctic </a:t>
            </a:r>
            <a:endParaRPr sz="1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 rotWithShape="1">
          <a:blip r:embed="rId3">
            <a:alphaModFix amt="51000"/>
          </a:blip>
          <a:srcRect b="0" l="17035" r="17668" t="63495"/>
          <a:stretch/>
        </p:blipFill>
        <p:spPr>
          <a:xfrm rot="10800000">
            <a:off x="5984249" y="4052076"/>
            <a:ext cx="3159751" cy="109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6075" y="1876350"/>
            <a:ext cx="3390900" cy="29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291525" y="420575"/>
            <a:ext cx="27852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 txBox="1"/>
          <p:nvPr>
            <p:ph type="ctrTitle"/>
          </p:nvPr>
        </p:nvSpPr>
        <p:spPr>
          <a:xfrm>
            <a:off x="253425" y="425825"/>
            <a:ext cx="2861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Objective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06" name="Google Shape;106;p18"/>
          <p:cNvSpPr txBox="1"/>
          <p:nvPr>
            <p:ph idx="1" type="subTitle"/>
          </p:nvPr>
        </p:nvSpPr>
        <p:spPr>
          <a:xfrm>
            <a:off x="238125" y="1331250"/>
            <a:ext cx="8562900" cy="83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Create a </a:t>
            </a:r>
            <a:r>
              <a:rPr b="1" lang="fr" sz="1800">
                <a:solidFill>
                  <a:srgbClr val="D5A6BD"/>
                </a:solidFill>
                <a:latin typeface="PT Mono"/>
                <a:ea typeface="PT Mono"/>
                <a:cs typeface="PT Mono"/>
                <a:sym typeface="PT Mono"/>
              </a:rPr>
              <a:t>physical driven cartography</a:t>
            </a: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based on seasonal evolution of </a:t>
            </a:r>
            <a:r>
              <a:rPr lang="fr" sz="17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surface coverage of ice</a:t>
            </a:r>
            <a:endParaRPr sz="1958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 amt="51000"/>
          </a:blip>
          <a:srcRect b="0" l="17035" r="17668" t="63495"/>
          <a:stretch/>
        </p:blipFill>
        <p:spPr>
          <a:xfrm rot="10800000">
            <a:off x="5984249" y="4052076"/>
            <a:ext cx="3159751" cy="109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290550" y="2036100"/>
            <a:ext cx="8562900" cy="831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rgbClr val="D5A6BD"/>
                </a:solidFill>
                <a:latin typeface="PT Mono"/>
                <a:ea typeface="PT Mono"/>
                <a:cs typeface="PT Mono"/>
                <a:sym typeface="PT Mono"/>
              </a:rPr>
              <a:t>Cluster</a:t>
            </a: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the regions with a </a:t>
            </a:r>
            <a:r>
              <a:rPr b="1" lang="fr" sz="1800">
                <a:solidFill>
                  <a:srgbClr val="D5A6BD"/>
                </a:solidFill>
                <a:latin typeface="PT Mono"/>
                <a:ea typeface="PT Mono"/>
                <a:cs typeface="PT Mono"/>
                <a:sym typeface="PT Mono"/>
              </a:rPr>
              <a:t>similar time evolution</a:t>
            </a:r>
            <a:r>
              <a:rPr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of the </a:t>
            </a:r>
            <a:r>
              <a:rPr i="1" lang="fr" sz="1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siconc</a:t>
            </a:r>
            <a:endParaRPr i="1" sz="1958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b="0" l="0" r="46068" t="0"/>
          <a:stretch/>
        </p:blipFill>
        <p:spPr>
          <a:xfrm>
            <a:off x="3212625" y="2822450"/>
            <a:ext cx="2057400" cy="20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9913" y="2822450"/>
            <a:ext cx="2229625" cy="209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8"/>
          <p:cNvCxnSpPr/>
          <p:nvPr/>
        </p:nvCxnSpPr>
        <p:spPr>
          <a:xfrm>
            <a:off x="5419725" y="3870650"/>
            <a:ext cx="7905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18"/>
          <p:cNvPicPr preferRelativeResize="0"/>
          <p:nvPr/>
        </p:nvPicPr>
        <p:blipFill rotWithShape="1">
          <a:blip r:embed="rId6">
            <a:alphaModFix/>
          </a:blip>
          <a:srcRect b="6528" l="11924" r="11093" t="7235"/>
          <a:stretch/>
        </p:blipFill>
        <p:spPr>
          <a:xfrm>
            <a:off x="383175" y="2822450"/>
            <a:ext cx="2339383" cy="20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291525" y="420575"/>
            <a:ext cx="25566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ctrTitle"/>
          </p:nvPr>
        </p:nvSpPr>
        <p:spPr>
          <a:xfrm>
            <a:off x="253425" y="425825"/>
            <a:ext cx="25566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Methods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253425" y="1407450"/>
            <a:ext cx="4486200" cy="161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4 clustering methods tested:</a:t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T Mono"/>
              <a:buChar char="-"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K-Means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T Mono"/>
              <a:buChar char="-"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DBScan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T Mono"/>
              <a:buChar char="-"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Gaussian Mixture</a:t>
            </a:r>
            <a:endParaRPr sz="16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T Mono"/>
              <a:buChar char="-"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Agglomerative</a:t>
            </a:r>
            <a:r>
              <a:rPr lang="fr" sz="19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19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 amt="51000"/>
          </a:blip>
          <a:srcRect b="0" l="17033" r="60827" t="0"/>
          <a:stretch/>
        </p:blipFill>
        <p:spPr>
          <a:xfrm rot="5400000">
            <a:off x="4036350" y="3103404"/>
            <a:ext cx="1071325" cy="2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idx="1" type="subTitle"/>
          </p:nvPr>
        </p:nvSpPr>
        <p:spPr>
          <a:xfrm>
            <a:off x="291525" y="3553825"/>
            <a:ext cx="3252300" cy="1185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Selection of the </a:t>
            </a:r>
            <a:r>
              <a:rPr b="1" lang="fr" sz="20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number of clusters</a:t>
            </a: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based on elbow method </a:t>
            </a:r>
            <a:endParaRPr sz="19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7138" y="2815212"/>
            <a:ext cx="2681250" cy="19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5184225" y="1160488"/>
            <a:ext cx="3785100" cy="86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Selection</a:t>
            </a: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of </a:t>
            </a:r>
            <a:r>
              <a:rPr b="1" lang="fr" sz="20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best model</a:t>
            </a: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based on silhouette score </a:t>
            </a:r>
            <a:endParaRPr sz="19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1743075" y="2943225"/>
            <a:ext cx="0" cy="485700"/>
          </a:xfrm>
          <a:prstGeom prst="straightConnector1">
            <a:avLst/>
          </a:prstGeom>
          <a:noFill/>
          <a:ln cap="flat" cmpd="sng" w="28575">
            <a:solidFill>
              <a:srgbClr val="B4A7D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6770550" y="3028400"/>
            <a:ext cx="2078100" cy="1549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Clustering based on </a:t>
            </a:r>
            <a:r>
              <a:rPr lang="fr" sz="2000">
                <a:solidFill>
                  <a:srgbClr val="B4A7D6"/>
                </a:solidFill>
                <a:latin typeface="PT Mono"/>
                <a:ea typeface="PT Mono"/>
                <a:cs typeface="PT Mono"/>
                <a:sym typeface="PT Mono"/>
              </a:rPr>
              <a:t>seasonal similarities</a:t>
            </a:r>
            <a:endParaRPr sz="1900">
              <a:solidFill>
                <a:srgbClr val="B4A7D6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4753125" y="1627938"/>
            <a:ext cx="417600" cy="20700"/>
          </a:xfrm>
          <a:prstGeom prst="straightConnector1">
            <a:avLst/>
          </a:prstGeom>
          <a:noFill/>
          <a:ln cap="flat" cmpd="sng" w="28575">
            <a:solidFill>
              <a:srgbClr val="A4C2F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291525" y="420575"/>
            <a:ext cx="24612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type="ctrTitle"/>
          </p:nvPr>
        </p:nvSpPr>
        <p:spPr>
          <a:xfrm>
            <a:off x="253425" y="425825"/>
            <a:ext cx="2461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Results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 amt="51000"/>
          </a:blip>
          <a:srcRect b="65257" l="17035" r="17668" t="0"/>
          <a:stretch/>
        </p:blipFill>
        <p:spPr>
          <a:xfrm>
            <a:off x="0" y="4114296"/>
            <a:ext cx="3159727" cy="1038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20"/>
          <p:cNvGraphicFramePr/>
          <p:nvPr/>
        </p:nvGraphicFramePr>
        <p:xfrm>
          <a:off x="221975" y="416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{3BC1033D-D9F8-4A3A-8AF6-8E06D3B10AEB}</a:tableStyleId>
              </a:tblPr>
              <a:tblGrid>
                <a:gridCol w="2002975"/>
                <a:gridCol w="2237675"/>
                <a:gridCol w="2203650"/>
                <a:gridCol w="2006475"/>
              </a:tblGrid>
              <a:tr h="2510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674EA7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silhouette score</a:t>
                      </a:r>
                      <a:endParaRPr b="1" sz="1000">
                        <a:solidFill>
                          <a:srgbClr val="674EA7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5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0.561</a:t>
                      </a:r>
                      <a:endParaRPr sz="15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5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0.622</a:t>
                      </a:r>
                      <a:endParaRPr sz="15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5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0.628</a:t>
                      </a:r>
                      <a:endParaRPr sz="15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5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0.589</a:t>
                      </a:r>
                      <a:endParaRPr sz="15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" name="Google Shape;138;p20"/>
          <p:cNvGraphicFramePr/>
          <p:nvPr/>
        </p:nvGraphicFramePr>
        <p:xfrm>
          <a:off x="253425" y="127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{3BC1033D-D9F8-4A3A-8AF6-8E06D3B10AEB}</a:tableStyleId>
              </a:tblPr>
              <a:tblGrid>
                <a:gridCol w="1971525"/>
                <a:gridCol w="2237675"/>
                <a:gridCol w="2203650"/>
                <a:gridCol w="2037925"/>
              </a:tblGrid>
              <a:tr h="2357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1C4587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annual clustering for each scenario</a:t>
                      </a:r>
                      <a:endParaRPr b="1" sz="1000">
                        <a:solidFill>
                          <a:srgbClr val="1C4587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  <a:tc hMerge="1"/>
                <a:tc hMerge="1"/>
              </a:tr>
              <a:tr h="29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1pctCO2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historical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abrupt-4xCO2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piControl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9" name="Google Shape;13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7425" y="2173013"/>
            <a:ext cx="1776008" cy="18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508" y="2147488"/>
            <a:ext cx="1776008" cy="18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8967" y="2147488"/>
            <a:ext cx="1776008" cy="1814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83583" y="2147488"/>
            <a:ext cx="1825957" cy="186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291525" y="420575"/>
            <a:ext cx="24612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 txBox="1"/>
          <p:nvPr>
            <p:ph type="ctrTitle"/>
          </p:nvPr>
        </p:nvSpPr>
        <p:spPr>
          <a:xfrm>
            <a:off x="253425" y="425825"/>
            <a:ext cx="2461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Results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49" name="Google Shape;149;p21"/>
          <p:cNvSpPr txBox="1"/>
          <p:nvPr>
            <p:ph idx="1" type="subTitle"/>
          </p:nvPr>
        </p:nvSpPr>
        <p:spPr>
          <a:xfrm>
            <a:off x="3071850" y="327875"/>
            <a:ext cx="30003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Focus on scenario </a:t>
            </a:r>
            <a:r>
              <a:rPr b="1" lang="fr" sz="14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1pctCO2</a:t>
            </a:r>
            <a:endParaRPr b="1" sz="1400">
              <a:solidFill>
                <a:srgbClr val="A4C2F4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 rotWithShape="1">
          <a:blip r:embed="rId3">
            <a:alphaModFix amt="51000"/>
          </a:blip>
          <a:srcRect b="65257" l="17035" r="17668" t="0"/>
          <a:stretch/>
        </p:blipFill>
        <p:spPr>
          <a:xfrm>
            <a:off x="0" y="4114296"/>
            <a:ext cx="3159727" cy="1038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21"/>
          <p:cNvGraphicFramePr/>
          <p:nvPr/>
        </p:nvGraphicFramePr>
        <p:xfrm>
          <a:off x="253425" y="1278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{3BC1033D-D9F8-4A3A-8AF6-8E06D3B10AEB}</a:tableStyleId>
              </a:tblPr>
              <a:tblGrid>
                <a:gridCol w="2004525"/>
                <a:gridCol w="2275125"/>
                <a:gridCol w="2240500"/>
                <a:gridCol w="2072025"/>
              </a:tblGrid>
              <a:tr h="23575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000">
                          <a:solidFill>
                            <a:srgbClr val="1C4587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seasonal clustering</a:t>
                      </a:r>
                      <a:endParaRPr b="1" sz="1000">
                        <a:solidFill>
                          <a:srgbClr val="1C4587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  <a:tc hMerge="1"/>
                <a:tc hMerge="1"/>
              </a:tr>
              <a:tr h="297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winter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spring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summer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solidFill>
                            <a:schemeClr val="lt1"/>
                          </a:solidFill>
                          <a:latin typeface="PT Mono"/>
                          <a:ea typeface="PT Mono"/>
                          <a:cs typeface="PT Mono"/>
                          <a:sym typeface="PT Mono"/>
                        </a:rPr>
                        <a:t>autumn</a:t>
                      </a:r>
                      <a:endParaRPr sz="1300">
                        <a:solidFill>
                          <a:schemeClr val="lt1"/>
                        </a:solidFill>
                        <a:latin typeface="PT Mono"/>
                        <a:ea typeface="PT Mono"/>
                        <a:cs typeface="PT Mono"/>
                        <a:sym typeface="PT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21"/>
          <p:cNvSpPr txBox="1"/>
          <p:nvPr>
            <p:ph idx="1" type="subTitle"/>
          </p:nvPr>
        </p:nvSpPr>
        <p:spPr>
          <a:xfrm>
            <a:off x="3071850" y="646575"/>
            <a:ext cx="5339400" cy="41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Type of ice : Young ice, 1 year ice, old ice </a:t>
            </a:r>
            <a:r>
              <a:rPr lang="fr" sz="1400">
                <a:solidFill>
                  <a:srgbClr val="4A86E8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[3]</a:t>
            </a:r>
            <a:endParaRPr sz="1400">
              <a:solidFill>
                <a:srgbClr val="4A86E8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6725" y="3441075"/>
            <a:ext cx="2215275" cy="155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9375" y="2093424"/>
            <a:ext cx="2215275" cy="1559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0700" y="3441075"/>
            <a:ext cx="2189660" cy="15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72000" y="2093425"/>
            <a:ext cx="2189686" cy="15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291525" y="420575"/>
            <a:ext cx="24612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>
            <p:ph type="ctrTitle"/>
          </p:nvPr>
        </p:nvSpPr>
        <p:spPr>
          <a:xfrm>
            <a:off x="253425" y="425825"/>
            <a:ext cx="24612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Results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64" name="Google Shape;164;p22"/>
          <p:cNvSpPr txBox="1"/>
          <p:nvPr>
            <p:ph idx="1" type="subTitle"/>
          </p:nvPr>
        </p:nvSpPr>
        <p:spPr>
          <a:xfrm>
            <a:off x="2843250" y="556475"/>
            <a:ext cx="2088900" cy="3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Focus on </a:t>
            </a:r>
            <a:r>
              <a:rPr b="1" lang="fr" sz="1600">
                <a:solidFill>
                  <a:srgbClr val="A4C2F4"/>
                </a:solidFill>
                <a:latin typeface="PT Mono"/>
                <a:ea typeface="PT Mono"/>
                <a:cs typeface="PT Mono"/>
                <a:sym typeface="PT Mono"/>
              </a:rPr>
              <a:t>winter</a:t>
            </a:r>
            <a:endParaRPr b="1" sz="1600">
              <a:solidFill>
                <a:srgbClr val="A4C2F4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6" name="Google Shape;166;p22"/>
          <p:cNvPicPr preferRelativeResize="0"/>
          <p:nvPr/>
        </p:nvPicPr>
        <p:blipFill rotWithShape="1">
          <a:blip r:embed="rId3">
            <a:alphaModFix amt="51000"/>
          </a:blip>
          <a:srcRect b="65257" l="17035" r="17668" t="0"/>
          <a:stretch/>
        </p:blipFill>
        <p:spPr>
          <a:xfrm>
            <a:off x="0" y="4114296"/>
            <a:ext cx="3159727" cy="103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523" y="1401602"/>
            <a:ext cx="4471450" cy="31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4875" y="244225"/>
            <a:ext cx="2257400" cy="230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4875" y="2647950"/>
            <a:ext cx="2257390" cy="2306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2"/>
          <p:cNvCxnSpPr/>
          <p:nvPr/>
        </p:nvCxnSpPr>
        <p:spPr>
          <a:xfrm flipH="1">
            <a:off x="5902900" y="2642850"/>
            <a:ext cx="1629900" cy="8184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2"/>
          <p:cNvCxnSpPr/>
          <p:nvPr/>
        </p:nvCxnSpPr>
        <p:spPr>
          <a:xfrm rot="10800000">
            <a:off x="5875875" y="1099950"/>
            <a:ext cx="1636800" cy="9258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2"/>
          <p:cNvSpPr txBox="1"/>
          <p:nvPr>
            <p:ph idx="1" type="subTitle"/>
          </p:nvPr>
        </p:nvSpPr>
        <p:spPr>
          <a:xfrm>
            <a:off x="7512675" y="1911300"/>
            <a:ext cx="1508400" cy="132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E06666"/>
                </a:solidFill>
                <a:latin typeface="PT Mono"/>
                <a:ea typeface="PT Mono"/>
                <a:cs typeface="PT Mono"/>
                <a:sym typeface="PT Mono"/>
              </a:rPr>
              <a:t>variation</a:t>
            </a:r>
            <a:r>
              <a:rPr lang="fr" sz="14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 of clusters between summer and winter</a:t>
            </a:r>
            <a:endParaRPr b="1" sz="1400">
              <a:solidFill>
                <a:srgbClr val="A4C2F4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/>
          <p:nvPr/>
        </p:nvSpPr>
        <p:spPr>
          <a:xfrm>
            <a:off x="291525" y="420575"/>
            <a:ext cx="36234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 txBox="1"/>
          <p:nvPr>
            <p:ph type="ctrTitle"/>
          </p:nvPr>
        </p:nvSpPr>
        <p:spPr>
          <a:xfrm>
            <a:off x="291525" y="425825"/>
            <a:ext cx="3623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Perspectives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79" name="Google Shape;179;p23"/>
          <p:cNvSpPr txBox="1"/>
          <p:nvPr>
            <p:ph idx="1" type="subTitle"/>
          </p:nvPr>
        </p:nvSpPr>
        <p:spPr>
          <a:xfrm>
            <a:off x="466725" y="1407450"/>
            <a:ext cx="7887300" cy="238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FE599"/>
                </a:solidFill>
                <a:latin typeface="PT Mono"/>
                <a:ea typeface="PT Mono"/>
                <a:cs typeface="PT Mono"/>
                <a:sym typeface="PT Mono"/>
              </a:rPr>
              <a:t>Cluster validation : </a:t>
            </a:r>
            <a:endParaRPr sz="1300">
              <a:solidFill>
                <a:srgbClr val="FFE599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Same clusters with different models ? </a:t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Compare with sea ice volume.</a:t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FFE599"/>
                </a:solidFill>
                <a:latin typeface="PT Mono"/>
                <a:ea typeface="PT Mono"/>
                <a:cs typeface="PT Mono"/>
                <a:sym typeface="PT Mono"/>
              </a:rPr>
              <a:t>Time evolution : </a:t>
            </a:r>
            <a:endParaRPr sz="1300">
              <a:solidFill>
                <a:srgbClr val="FFE599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Arctic should be ice-free during summer in 2047 </a:t>
            </a:r>
            <a:r>
              <a:rPr lang="fr" sz="1300" u="sng">
                <a:solidFill>
                  <a:srgbClr val="4A86E8"/>
                </a:solidFill>
                <a:latin typeface="PT Mono"/>
                <a:ea typeface="PT Mono"/>
                <a:cs typeface="PT Mono"/>
                <a:sym typeface="PT Mono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[4]</a:t>
            </a: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. </a:t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In high emissions scenario, Arctic will be ice free in winter too </a:t>
            </a:r>
            <a:r>
              <a:rPr lang="fr" sz="1300" u="sng">
                <a:solidFill>
                  <a:srgbClr val="4A86E8"/>
                </a:solidFill>
                <a:latin typeface="PT Mono"/>
                <a:ea typeface="PT Mono"/>
                <a:cs typeface="PT Mono"/>
                <a:sym typeface="PT Mono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[5]</a:t>
            </a: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. </a:t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Create clusters on a 10-years period.</a:t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1" name="Google Shape;181;p23"/>
          <p:cNvPicPr preferRelativeResize="0"/>
          <p:nvPr/>
        </p:nvPicPr>
        <p:blipFill rotWithShape="1">
          <a:blip r:embed="rId5">
            <a:alphaModFix amt="51000"/>
          </a:blip>
          <a:srcRect b="0" l="17035" r="17668" t="65257"/>
          <a:stretch/>
        </p:blipFill>
        <p:spPr>
          <a:xfrm rot="10800000">
            <a:off x="-1" y="4114297"/>
            <a:ext cx="3159751" cy="103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30202"/>
            </a:gs>
            <a:gs pos="50000">
              <a:srgbClr val="19002A"/>
            </a:gs>
            <a:gs pos="100000">
              <a:srgbClr val="02112A"/>
            </a:gs>
          </a:gsLst>
          <a:lin ang="13500032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/>
          <p:nvPr/>
        </p:nvSpPr>
        <p:spPr>
          <a:xfrm>
            <a:off x="291525" y="420575"/>
            <a:ext cx="3623400" cy="6654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9D3030"/>
              </a:gs>
              <a:gs pos="50000">
                <a:srgbClr val="6C3D8C"/>
              </a:gs>
              <a:gs pos="100000">
                <a:srgbClr val="3F66A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 txBox="1"/>
          <p:nvPr>
            <p:ph type="ctrTitle"/>
          </p:nvPr>
        </p:nvSpPr>
        <p:spPr>
          <a:xfrm>
            <a:off x="291525" y="425825"/>
            <a:ext cx="36234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33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Bibliography</a:t>
            </a:r>
            <a:endParaRPr b="1" sz="333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88" name="Google Shape;188;p24"/>
          <p:cNvSpPr txBox="1"/>
          <p:nvPr>
            <p:ph idx="1" type="subTitle"/>
          </p:nvPr>
        </p:nvSpPr>
        <p:spPr>
          <a:xfrm>
            <a:off x="349325" y="1309800"/>
            <a:ext cx="8063400" cy="2523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[1] GCOS: Essential Climate Variables – Sea Ice, Global Climate Observing System, World Meteorological Organization (WMO), available at:</a:t>
            </a:r>
            <a:r>
              <a:rPr lang="fr" sz="800">
                <a:solidFill>
                  <a:schemeClr val="lt1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800" u="sng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https://gcos.wmo.int/site/global-climate-observing-system-gcos/essential-climate-variables/sea-ice</a:t>
            </a: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last accessed: January 2025.</a:t>
            </a:r>
            <a:endParaRPr sz="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[2] WCRP: CMIP Model and Experiment Documentation, World Climate Research Programme, available at:</a:t>
            </a:r>
            <a:r>
              <a:rPr lang="fr" sz="800">
                <a:solidFill>
                  <a:schemeClr val="lt1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800" u="sng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https://wcrp-cmip.org/cmip-model-and-experiment-documentation/</a:t>
            </a: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last accessed: January 2025.</a:t>
            </a:r>
            <a:endParaRPr sz="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[3] WMO: WMO-No. 574 – Guide to Climate Services, 2024 edition, World Meteorological Organization, available at:</a:t>
            </a:r>
            <a:r>
              <a:rPr lang="fr" sz="800">
                <a:solidFill>
                  <a:schemeClr val="lt1"/>
                </a:solidFill>
                <a:uFill>
                  <a:noFill/>
                </a:uFill>
                <a:latin typeface="PT Mono"/>
                <a:ea typeface="PT Mono"/>
                <a:cs typeface="PT Mono"/>
                <a:sym typeface="PT Mon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fr" sz="800" u="sng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https://library.wmo.int/viewer/31442/download?file=574-2024-edition_en.pdf&amp;type=pdf&amp;navigator=1</a:t>
            </a: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, last accessed: January 2025.</a:t>
            </a:r>
            <a:endParaRPr sz="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[4] Selivanova, J., Iovino, D., and Cocetta, F.: Past and future of the Arctic sea ice in High-Resolution Model Intercomparison Project (HighResMIP) climate models, The Cryosphere, 18, 2739–2763, https://doi.org/10.5194/tc-18-2739-2024, 2024.</a:t>
            </a:r>
            <a:endParaRPr sz="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>
                <a:solidFill>
                  <a:schemeClr val="lt1"/>
                </a:solidFill>
                <a:latin typeface="PT Mono"/>
                <a:ea typeface="PT Mono"/>
                <a:cs typeface="PT Mono"/>
                <a:sym typeface="PT Mono"/>
              </a:rPr>
              <a:t>[5] ESA: Simulations Suggest Ice-Free Arctic Summers by 2050, European Space Agency – Climate Office, available at: https://climate.esa.int/nl/projecten/sea-ice/news-and-events/news/simulations-suggest-ice-free-arctic-summers-2050/, last accessed: January 2025. </a:t>
            </a:r>
            <a:endParaRPr sz="800">
              <a:solidFill>
                <a:schemeClr val="lt1"/>
              </a:solidFill>
              <a:latin typeface="PT Mono"/>
              <a:ea typeface="PT Mono"/>
              <a:cs typeface="PT Mono"/>
              <a:sym typeface="PT Mono"/>
            </a:endParaRPr>
          </a:p>
        </p:txBody>
      </p: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0" name="Google Shape;190;p24"/>
          <p:cNvPicPr preferRelativeResize="0"/>
          <p:nvPr/>
        </p:nvPicPr>
        <p:blipFill rotWithShape="1">
          <a:blip r:embed="rId9">
            <a:alphaModFix amt="51000"/>
          </a:blip>
          <a:srcRect b="0" l="17035" r="17668" t="65257"/>
          <a:stretch/>
        </p:blipFill>
        <p:spPr>
          <a:xfrm rot="10800000">
            <a:off x="-1" y="4114297"/>
            <a:ext cx="3159751" cy="103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